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Times New Roman"/>
              </a:defRPr>
            </a:pPr>
            <a:r>
              <a:t>Summer Training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331720"/>
            <a:ext cx="9997135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HOMEWORTH AI</a:t>
            </a:r>
          </a:p>
          <a:p>
            <a:pPr algn="ctr">
              <a:defRPr sz="2000" b="1">
                <a:solidFill>
                  <a:srgbClr val="1E293B"/>
                </a:solidFill>
                <a:latin typeface="Times New Roman"/>
              </a:defRPr>
            </a:pPr>
            <a:r>
              <a:t>AI-Powered House Price Prediction &amp; Real Estate Valuation System</a:t>
            </a:r>
          </a:p>
          <a:p>
            <a:pPr algn="ctr">
              <a:defRPr sz="1300" i="1">
                <a:solidFill>
                  <a:srgbClr val="64748B"/>
                </a:solidFill>
                <a:latin typeface="Times New Roman"/>
              </a:defRPr>
            </a:pPr>
            <a:r>
              <a:t>Carried out at: IIHMF, Motilal Nehru National Institute of Technology (MNNIT), Prayagraj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976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SUBMITTED BY:</a:t>
            </a:r>
          </a:p>
          <a:p>
            <a:pPr>
              <a:defRPr sz="1500" b="1">
                <a:solidFill>
                  <a:srgbClr val="1E293B"/>
                </a:solidFill>
                <a:latin typeface="Times New Roman"/>
              </a:defRPr>
            </a:pPr>
            <a:r>
              <a:t>• Ujjaval Kumar Kesarwani</a:t>
            </a:r>
          </a:p>
          <a:p>
            <a:pPr>
              <a:defRPr sz="1300">
                <a:solidFill>
                  <a:srgbClr val="64748B"/>
                </a:solidFill>
                <a:latin typeface="Times New Roman"/>
              </a:defRPr>
            </a:pPr>
            <a:r>
              <a:t>   AKTU Roll No: 2400101530154</a:t>
            </a:r>
          </a:p>
          <a:p>
            <a:pPr>
              <a:defRPr sz="1500" b="1">
                <a:solidFill>
                  <a:srgbClr val="1E293B"/>
                </a:solidFill>
                <a:latin typeface="Times New Roman"/>
              </a:defRPr>
            </a:pPr>
            <a:r>
              <a:t>• Shlok Tiwari</a:t>
            </a:r>
          </a:p>
          <a:p>
            <a:pPr>
              <a:defRPr sz="1300">
                <a:solidFill>
                  <a:srgbClr val="64748B"/>
                </a:solidFill>
                <a:latin typeface="Times New Roman"/>
              </a:defRPr>
            </a:pPr>
            <a:r>
              <a:t>   AKTU Roll No: 2400101530134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2976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UNDER THE SUPERVISION OF:</a:t>
            </a:r>
          </a:p>
          <a:p>
            <a:pPr>
              <a:defRPr sz="1600" b="1">
                <a:solidFill>
                  <a:srgbClr val="1E293B"/>
                </a:solidFill>
                <a:latin typeface="Times New Roman"/>
              </a:defRPr>
            </a:pPr>
            <a:r>
              <a:t>Dr. Divya Kumar</a:t>
            </a:r>
          </a:p>
          <a:p>
            <a:pPr>
              <a:defRPr sz="1200">
                <a:solidFill>
                  <a:srgbClr val="64748B"/>
                </a:solidFill>
                <a:latin typeface="Times New Roman"/>
              </a:defRPr>
            </a:pPr>
            <a:r>
              <a:t>Department of Computer Science and Engineering</a:t>
            </a:r>
            <a:br/>
            <a:r>
              <a:t>(Artificial Intelligence &amp; Machine Learning)</a:t>
            </a:r>
            <a:br/>
            <a:r>
              <a:t>United College of Engineering &amp; Research (UCER), Prayagraj</a:t>
            </a:r>
            <a:br/>
            <a:r>
              <a:t>Affiliated to Dr. A.P.J. AKTU, Lucknow (2026-27)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Presentation Outline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01  Introduction &amp; Problem Statement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The valuation gap, broker subjectivity, and real estate market opacity.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02  Project Objectives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Predictive modeling, composite quality scoring, automated AI buying advisor.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81528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03  Methodology &amp; Architecture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506 benchmark properties, 34 attributes, 10 Indian metropolitan cities.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81528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04  Machine Learning Pipeline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Preprocessing, One-Hot Encoding, ColumnTransformer, and regression training.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97096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05  Model Evaluation &amp; Results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Gradient Boosting (93.92% R²) vs. Random Forest vs. Linear Regression.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97096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06  Explainable AI (XAI)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Feature importance weights driving fair market value estimation.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12664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07  Implementation &amp; Web Dashboard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Production Streamlit application, financial EMI planner, property comparison.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312664"/>
            <a:ext cx="5212080" cy="96012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08  Conclusion &amp; Future Work</a:t>
            </a:r>
          </a:p>
          <a:p>
            <a:pPr>
              <a:defRPr sz="1150">
                <a:solidFill>
                  <a:srgbClr val="1E293B"/>
                </a:solidFill>
                <a:latin typeface="Times New Roman"/>
              </a:defRPr>
            </a:pPr>
            <a:r>
              <a:t>Summary of internship outcomes, practical impact, and future extensions.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Introduction: The Real Estate Valuation Gap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⚠️ The Traditional Valuation Dilemma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Subjective &amp; Biased Estimates: Traditional home pricing heavily depends on middleman / broker opinions and anecdotal neighborhood pricing.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Market Opacity: Buyers frequently overpay due to artificial inflation, while sellers face stagnant listings when overpriced.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Static Calculators Lack Context: Generic price calculators solely evaluate area, ignoring air quality (AQI), crime rates, and transit.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High Financial Risk: Real estate represents the largest single lifetime investment for Indian families; inaccurate valuation causes severe financial distress.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💡 The HomeWorth AI Solution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Data-Driven Machine Learning: Replaces guesswork with empirical regression models trained on multi-metro Indian transaction records.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Holistic Multi-Factor Pricing: Incorporates 34 structural, environmental, transit, security, and society amenities parameters.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Composite Property Quality Score: An objective 0–100 index evaluating Location, Architecture, Amenities, and Safety.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Actionable Advisory Engine: Contextual recommendations on negotiation leverage, asset strengths, and due diligence checks.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Production-Grade Web Application: Interactive Streamlit interface with integrated mortgage/EMI planner.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Project Objectives &amp; Scope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🎯 High-Precision Valuation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Develop and tune robust supervised regression models to predict residential prices with &gt;90% R² accuracy, minimizing MAE on unseen test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📐 Multi-Dimensional Feature Modeling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Engineer comprehensive feature transformers that account for physical carpet area, age, facing, society amenities, and transit corridors.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🏆 4-Pillar Livability Index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Construct a standardized 100-point Property Health Score assessing Location, Physical Construction, Lifestyle Amenities, and Environmental Safety.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🤖 Explainable AI &amp; Buyer Advisory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Deliver transparent feature importance rankings and automated real estate advice detailing growth drivers, risk flags, and negotiation tactics.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🏦 Integrated Financial Planning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Equip users with built-in mortgage / EMI calculations, loan-to-value ratios, and downloadable official property valuation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37760"/>
            <a:ext cx="5212080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500" b="1">
                <a:solidFill>
                  <a:srgbClr val="1E3A8A"/>
                </a:solidFill>
                <a:latin typeface="Times New Roman"/>
              </a:defRPr>
            </a:pPr>
            <a:r>
              <a:t>🌐 Production Web Deployment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Deploy a responsive, enterprise-grade dark-glassmorphism Streamlit platform accessible to home buyers, sellers, and evaluators.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Dataset Architecture &amp; Geographic Scope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📊 Dataset Overview (506 Benchmark Homes)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Scope &amp; Dimensions: 506 validated property transactions across 10 top Indian metropolitan centers, containing 34 detailed attributes.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Geographic Coverage: Mumbai, Delhi, Bengaluru, Pune, Chennai, Hyderabad, Kolkata, Ahmedabad, Lucknow, and Jaipur.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Property Types: High-rise Apartments (54.7%), Luxury Villas (16.0%), Independent Houses (17.2%), and Builder Floors (10.1%).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Target Variable: Price_Lakhs (INR) ranging from ₹ 10.0 Lakhs to ₹ 473.21 Lakhs (Mean: ₹ 99.61 L, Median: ₹ 92.90 L).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Data Hygiene: Missing values in numerical attributes imputed via median; categorical features imputed with mode; zero target nulls.</a:t>
            </a:r>
          </a:p>
        </p:txBody>
      </p:sp>
      <p:pic>
        <p:nvPicPr>
          <p:cNvPr id="8" name="Picture 7" descr="fig_city_p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11680"/>
            <a:ext cx="5212080" cy="29187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Machine Learning Methodology &amp;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Step 1: Data Ingestion &amp; Cleaning</a:t>
            </a:r>
          </a:p>
          <a:p>
            <a:pPr>
              <a:defRPr sz="1100">
                <a:solidFill>
                  <a:srgbClr val="1E293B"/>
                </a:solidFill>
                <a:latin typeface="Times New Roman"/>
              </a:defRPr>
            </a:pPr>
            <a:r>
              <a:t>Load 506 raw records from Excel. Drop House_ID unique identifier. Impute missing values with statistical medians and modes.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9504"/>
            <a:ext cx="1069848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Step 2: ColumnTransformer Architecture</a:t>
            </a:r>
          </a:p>
          <a:p>
            <a:pPr>
              <a:defRPr sz="1100">
                <a:solidFill>
                  <a:srgbClr val="1E293B"/>
                </a:solidFill>
                <a:latin typeface="Times New Roman"/>
              </a:defRPr>
            </a:pPr>
            <a:r>
              <a:t>10 Categorical Features (City, Locality, Property Type, Facing, Furnishing, etc.) processed via OneHotEncoder(handle_unknown='ignore') -&gt; 46 dummy variables.</a:t>
            </a:r>
            <a:br/>
            <a:r>
              <a:t>22 Numerical Features passed through without data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67328"/>
            <a:ext cx="1069848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Step 3: 80/20 Train-Test Partitioning</a:t>
            </a:r>
          </a:p>
          <a:p>
            <a:pPr>
              <a:defRPr sz="1100">
                <a:solidFill>
                  <a:srgbClr val="1E293B"/>
                </a:solidFill>
                <a:latin typeface="Times New Roman"/>
              </a:defRPr>
            </a:pPr>
            <a:r>
              <a:t>Split data into Training Set (396 samples, 32 raw features) and Testing Set (100 samples, 32 raw features) with fixed random state 42 for reproducible benchmarking.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45152"/>
            <a:ext cx="1069848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Step 4: Regression Algorithm Training</a:t>
            </a:r>
          </a:p>
          <a:p>
            <a:pPr>
              <a:defRPr sz="1100">
                <a:solidFill>
                  <a:srgbClr val="1E293B"/>
                </a:solidFill>
                <a:latin typeface="Times New Roman"/>
              </a:defRPr>
            </a:pPr>
            <a:r>
              <a:t>Train candidate models (Linear Regression, Random Forest, Gradient Boosting Regressor) inside scikit-learn Pipeline objects combining preprocessing and estimators.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22976"/>
            <a:ext cx="1069848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1E3A8A"/>
                </a:solidFill>
                <a:latin typeface="Times New Roman"/>
              </a:defRPr>
            </a:pPr>
            <a:r>
              <a:t>Step 5: Model Serialization &amp; Deployment</a:t>
            </a:r>
          </a:p>
          <a:p>
            <a:pPr>
              <a:defRPr sz="1100">
                <a:solidFill>
                  <a:srgbClr val="1E293B"/>
                </a:solidFill>
                <a:latin typeface="Times New Roman"/>
              </a:defRPr>
            </a:pPr>
            <a:r>
              <a:t>Serialize the best-performing pipeline using Joblib into house_price_pipeline.pkl for real-time inference in Streamlit.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Model Evaluation &amp; Performance Leaderboard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🏆 Model Benchmark Results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Gradient Boosting Regressor (Winner):</a:t>
            </a:r>
            <a:br/>
            <a:r>
              <a:t>  • R² Score: 0.9392 (93.92% variance explained)</a:t>
            </a:r>
            <a:br/>
            <a:r>
              <a:t>  • MAE: ₹ 10.01 Lakhs (Lowest test error)</a:t>
            </a:r>
            <a:br/>
            <a:r>
              <a:t>  • RMSE: ₹ 13.85 Lakhs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Linear Regression (Baseline):</a:t>
            </a:r>
            <a:br/>
            <a:r>
              <a:t>  • R² Score: 0.8925 | MAE: ₹ 13.79 Lakhs | RMSE: ₹ 18.42 Lakhs</a:t>
            </a:r>
            <a:br/>
            <a:r>
              <a:t>  • Solid baseline but struggles with non-linear amenity interactions.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Random Forest Regressor (Ensemble):</a:t>
            </a:r>
            <a:br/>
            <a:r>
              <a:t>  • R² Score: 0.8467 | MAE: ₹ 15.86 Lakhs | RMSE: ₹ 22.00 Lakhs</a:t>
            </a:r>
            <a:br/>
            <a:r>
              <a:t>  • Suffered slight variance penalties on smaller sample subsets.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Deployment Decision: Gradient Boosting selected for superior convergence and lowest residual errors.</a:t>
            </a:r>
          </a:p>
        </p:txBody>
      </p:sp>
      <p:pic>
        <p:nvPicPr>
          <p:cNvPr id="8" name="Picture 7" descr="fig_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11680"/>
            <a:ext cx="5212080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Explainable AI (XAI): Key Feature Weights</a:t>
            </a:r>
          </a:p>
        </p:txBody>
      </p:sp>
      <p:pic>
        <p:nvPicPr>
          <p:cNvPr id="7" name="Picture 6" descr="fig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11680"/>
            <a:ext cx="5212080" cy="3127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🔍 Feature Contribution Insights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Carpet Area (63.56%): The dominant physical valuation driver; unit price scales strongly with square footage.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Metropolitan City Tier (~23% Combined):</a:t>
            </a:r>
            <a:br/>
            <a:r>
              <a:t>  • Delhi (6.06%), Lucknow (4.63%), Bengaluru (4.56%), Ahmedabad (4.36%), Mumbai (3.29%).</a:t>
            </a:r>
            <a:br/>
            <a:r>
              <a:t>  • Metro economic status creates massive baseline price differentials.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Property Classification (Villa: 2.37%):</a:t>
            </a:r>
            <a:br/>
            <a:r>
              <a:t>  • Standalone land ownership and luxury villas command premium pricing over standard high-rise apartments.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Distance to City Center (1.99%):</a:t>
            </a:r>
            <a:br/>
            <a:r>
              <a:t>  • Peripheral properties trade at a noticeable discount due to commute overhead.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Age of Property (1.50%):</a:t>
            </a:r>
            <a:br/>
            <a:r>
              <a:t>  • Newer builds trade at premiums; properties &gt;18 years face maintenance discounts.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System Implementation &amp; Technology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Python 3.10+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CORE LANGUAGE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High-performance scripting, data handling, and native scientific libraries.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Scikit-Learn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MACHINE LEARNING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Pipelines, ColumnTransformer, OneHotEncoder, and GradientBoostingRegressor.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Streamlit 2.0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WEB FRAMEWORK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Interactive reactive dashboard, session-state management, and instant execution.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Plotly Express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INTERACTIVE GRAPHICS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Hardware-accelerated gauges, polar radar charts, box plots, and histograms.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16052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Pandas &amp; NumPy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DATA MANIPULATION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Dataset filtering, aggregation, and mathematical vector calculations.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160520"/>
            <a:ext cx="3383280" cy="19202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700" b="1">
                <a:solidFill>
                  <a:srgbClr val="1E3A8A"/>
                </a:solidFill>
                <a:latin typeface="Times New Roman"/>
              </a:defRPr>
            </a:pPr>
            <a:r>
              <a:t>Custom CSS3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Times New Roman"/>
              </a:defRPr>
            </a:pPr>
            <a:r>
              <a:t>DESIGN SYSTEM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Times New Roman"/>
              </a:defRPr>
            </a:pPr>
            <a:r>
              <a:t>Dark-mode glassmorphic theme, responsive cards, and refined typography.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Valuation Studio: Interactive Production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🏠 Valuation Studio Capabilities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1-Click Sample Presets: Load realistic configurations for Mumbai Luxury 3BHK, Bengaluru Tech 2BHK, Jaipur Villa, and Lucknow Budget in one click.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Dual Currency Valuation: Automatically displays market estimates in Lakhs and Crores (e.g., ₹ 1.89 Cr / 188.56 L).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High-Confidence Spread: Computes empirical price bands (±8.5%) based on regression mean absolute error.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Rate per Square Foot: Dynamically benchmarks per-sqft pricing against municipal locality comps.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Input Validation: Enforces physical constraints (e.g., floor number cannot exceed total building floors).</a:t>
            </a:r>
          </a:p>
        </p:txBody>
      </p:sp>
      <p:pic>
        <p:nvPicPr>
          <p:cNvPr id="8" name="Picture 7" descr="her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011680"/>
            <a:ext cx="5212080" cy="27805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Market Intelligence: Real-Time Data Exploration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📊 Empirical Market Analytics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Integrated 506-Home Dataset: Exposes full internship dataset directly within the Streamlit web application.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Live Market KPIs: Real-time calculation of Average Market Price (₹ 99.6L), Median (₹ 92.9L), and Max Asset Value (₹ 473.2L).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Amenities Value Premium: Visual bar charts quantifying the price premium added by Swimming Pools, Gyms, Clubhouses, and Power Backups.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Interactive Comp Explorer: Filterable tabular viewer allowing buyers to cross-filter by City, Property Type, and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⭐ Amenities Valuation Premium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Swimming Pool: Adds an average of +₹ 36.4 Lakhs (+39.8% value premium) in high-density metro communities.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Fitness Gym: Adds +₹ 28.2 Lakhs (+32.1% premium) due to younger demographic tenant demand.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Power Backup: Crucial livability requirement adding +₹ 22.5 Lakhs (+26.4% premium).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Gated 24x7 Security: Standard expectation in Tier-1 cities; non-gated properties face severe illiquidity.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Key Innovations: AI Advisory &amp; Comparison Tool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🤖 Intelligent AI Buying Advisor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Four Actionable Advice Pillars:</a:t>
            </a:r>
            <a:br/>
            <a:r>
              <a:t>  1. Core Strengths: Highlights prime location, security, and daylighting.</a:t>
            </a:r>
            <a:br/>
            <a:r>
              <a:t>  2. Growth Drivers: Identifies metro transit and school corridors.</a:t>
            </a:r>
            <a:br/>
            <a:r>
              <a:t>  3. Due Diligence Cautions: Flags high crime, elevated AQI, or aging builds.</a:t>
            </a:r>
            <a:br/>
            <a:r>
              <a:t>  4. Buyer's Negotiation Playbook: Recommends 5–10% discount bids if property has spent &gt;6 months on market.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Target Persona Matching: Automatically assigns recommended investor profile (First-time Buyer, Family End-User, HNW Luxury Seeker).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⚖️ Side-by-Side Property Comparator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Direct Comps Matching: Evaluate Property Option A vs. Property Option B side-by-side on one screen.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Delta Comparison Metrics: Instant computation of price delta, rate/sqft gap, and property score differential.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Automated Verdict: Data-backed synthesis declaring the higher-value option for long-term capital preservation.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Financial EMI Planner: Interactive mortgage calculator computing down payment, monthly EMI, and total interest outlay.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Limitations &amp; Future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⚠️ Current Project Limitations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Geographic Boundary: Sampled across 10 major Indian metros; expansion needed for Tier-2 and Tier-3 emerging hubs.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Static Transaction Dataset: Relies on periodic batch updates rather than real-time live MLS streaming.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Macroeconomic Rates: Does not currently ingest live RBI repo rate shifts or changing home loan interest cycles automatically.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Physical Inspection Variance: Models cannot evaluate internal interior quality, marble finishes, or woodwork condition.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🚀 Future Enhancement Roadmap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Live Real Estate Portal APIs: Integrate real-time scrapers and listing feeds from MagicBricks, 99acres, and Housing.com.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GIS &amp; Satellite Mapping: Incorporate Google Maps Platform APIs for micro-distance routing and topological mapping.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Deep Learning Models: Experiment with Deep Neural Networks and TabNet for complex non-linear feature interactions.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Mobile Application (Flutter): Package into cross-platform iOS &amp; Android mobile apps with camera-based property scanning.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Conclusion &amp; Project Achievements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4297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800" b="1">
                <a:solidFill>
                  <a:srgbClr val="1E3A8A"/>
                </a:solidFill>
                <a:latin typeface="Times New Roman"/>
              </a:defRPr>
            </a:pPr>
            <a:r>
              <a:t>Summary of Internship Outcomes: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Times New Roman"/>
              </a:defRPr>
            </a:pPr>
            <a:r>
              <a:t>✅  High-Precision ML Predictive Engine: Built and validated a Gradient Boosting Regressor achieving 93.92% R² accuracy, significantly outperforming Linear Regression and Random Forest baselines.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Times New Roman"/>
              </a:defRPr>
            </a:pPr>
            <a:r>
              <a:t>✅  Comprehensive 34-Feature Domain Modeling: Bridged physical dimensions with societal, environmental, and connectivity indicators to eliminate subjective broker bias.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Times New Roman"/>
              </a:defRPr>
            </a:pPr>
            <a:r>
              <a:t>✅  Objective Property Health Scoring: Invented a 4-pillar 100-point livability index providing actionable clarity to home buyers.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Times New Roman"/>
              </a:defRPr>
            </a:pPr>
            <a:r>
              <a:t>✅  Commercial-Grade User Experience: Transformed raw research into an interactive, multi-tab, glassmorphic Streamlit application with live mortgage planning and report export.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Times New Roman"/>
              </a:defRPr>
            </a:pPr>
            <a:r>
              <a:t>✅  Academic Fulfillment: Successfully met all curriculum and research deliverables for the AIML Summer Internship 2026 at IIHMF, MNNIT Prayagraj and UCER AKTU.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460308" cy="685800"/>
          </a:xfrm>
          <a:prstGeom prst="rect">
            <a:avLst/>
          </a:prstGeom>
        </p:spPr>
      </p:pic>
      <p:pic>
        <p:nvPicPr>
          <p:cNvPr id="4" name="Picture 3" descr="img_p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09728"/>
            <a:ext cx="1279166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References &amp; Acknowledgments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📚 Academic &amp; Technical References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Scikit-Learn: Machine Learning in Python, Pedregosa et al., JMLR 12, pp. 2825-2830, 2011.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Gradient Boosting Machines, Jerome H. Friedman, The Annals of Statistics, Vol. 29, No. 5, 2001.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Streamlit Open-Source Framework: Deploying Machine Learning Applications, 2026.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Plotly Technologies Inc.: Collaborative Data Visualization, Montreal, QC, 2026.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Housing Price Indices in Indian Metros: National Housing Bank (NHB RESIDEX)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600" b="1">
                <a:solidFill>
                  <a:srgbClr val="1E3A8A"/>
                </a:solidFill>
                <a:latin typeface="Times New Roman"/>
              </a:defRPr>
            </a:pPr>
            <a:r>
              <a:t>🙏 Institutional Acknowledgments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IIHMF, MNNIT Prayagraj: For hosting the AIML Summer Internship 2026 and providing technical guidance under Project Coordinator Arpit Dubey.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Dr. Divya Kumar (Project Supervisor): For invaluable mentorship, architectural feedback, and rigorous academic oversight.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United College of Engineering &amp; Research (UCER), Prayagraj: Department of Computer Science &amp; Engineering (AI &amp; ML).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Times New Roman"/>
              </a:defRPr>
            </a:pPr>
            <a:r>
              <a:t>•  Dr. A.P.J. Abdul Kalam Technical University (AKTU), Lucknow: For the comprehensive B.Tech engineering curriculum.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